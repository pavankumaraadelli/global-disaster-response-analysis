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70" r:id="rId11"/>
    <p:sldId id="271" r:id="rId12"/>
    <p:sldId id="276" r:id="rId13"/>
    <p:sldId id="266" r:id="rId14"/>
    <p:sldId id="267" r:id="rId15"/>
    <p:sldId id="268" r:id="rId16"/>
    <p:sldId id="269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29CF8-829A-436C-9B3C-D94916F6DB9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EFE9B-2761-44FE-95BE-BF0BCDC80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184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FE9B-2761-44FE-95BE-BF0BCDC80B5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54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FE9B-2761-44FE-95BE-BF0BCDC80B5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67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2667-0FB2-85AC-FAEA-201E786AC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E62BD-2357-1180-1152-A9972A001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9B1C7-5B9C-D7F1-4023-CA3F25AB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E8FFF-467F-7F51-1186-189E91EE0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598D8-5911-364C-93C9-3A005282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56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671A0-1EB6-FC92-CED4-AA081802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7C12F-91C7-B04A-FB77-2F30D27AA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F8581-877C-8684-A999-9B47D686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A2EED-C938-FF2C-8C23-F297BCCA5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C524-E23D-BAC8-4D79-7260CADA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57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85A7-43E6-2BF9-37F9-18B141C1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B35-57C0-07A6-D659-001F109C1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009E-C9FD-BEE7-D837-812134CA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3843-F30A-44ED-C279-C1767CA0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6F8E3-69BC-1157-F4D2-002973BC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36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6B8D-CAEC-0DE7-326A-DBF77247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A1019-FE9C-435C-1626-ED1D5F4D5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DBB40-4C7C-7345-891A-D2D43B80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AE65D-7248-2085-9254-FF6FDCB6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3D03-9DDF-6C74-D70D-E090089F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8715D-D685-D409-F1F2-AF9DB819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22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BEFD-3840-D6E4-DD9E-2E396C5D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0BD8-24D3-CFD9-2A89-5F9CBFD4A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58688-4453-824F-D36E-AB00CEF78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436FAD-3D65-E2A9-2017-BC9EFB89F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CEDC4-D652-8131-DA18-A6E20429D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32088-7C0E-AFE7-5D10-D8EBCF12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86B3A-2A63-D6E8-A53F-E3EC79C20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2F41A-B8DA-549A-DC7C-F5E12DC8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04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32C67-B548-3CBE-8B10-A1D2C52E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04ED0-772A-B5DE-A637-C47C7B435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01AC4-52FD-0607-3A6A-81CB3635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C53BA-2168-F23E-30B9-F438ED2C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37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8837F-198E-0622-6FA1-8A24D6A6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2B9DF-F19E-F86C-B484-B76F8A7CA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4F3F5-8D9C-2604-7A81-4CAB1AB0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14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BBDE-F0AF-BAAC-3DEA-16A8A9D5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86752-3F9E-AFD7-C867-EEF79A865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04413-4DD5-CD5F-A5FB-CD428F61B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FB991-37E1-387A-F7C1-83DBA66F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00197-B3EA-28F3-D711-59B5D6B1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9AF77-A303-CB34-9ABB-587EDABC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18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13E1-294E-DA92-7E3E-2484A730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FF4FB-FC59-C679-017F-652095D77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97484-8773-170E-3633-60AEC02CE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5B2BF-E597-83AE-374F-1E8DCBF0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420F4-AD10-6C68-9E19-BABC7D22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5497B-F2C6-EFDB-135C-BABC527B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79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9B8E-6811-536B-70AD-1913B262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BE3A5-1AC0-4133-DAC1-039A6620B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4F392-256A-140F-C01B-F03B2FCF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37A1A-232C-71C8-EDC4-DEE7D1A4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65AA-8032-4E09-8F98-556D8C22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6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8EC6C-FFA1-31AE-9767-A04383726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45614-8E9E-D1E8-73A2-04B028E90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7A0FF-BA72-8582-5E20-887E90CF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CA89A-C8EB-DF2F-C6E7-39451FCE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FE86D-A72B-01B3-5C6D-54BB2907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683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49D7D-0833-3D46-F79C-2B2B18013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ECCBE-BDD2-0A85-477E-D58A6BF94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402BB-AB58-3A37-83F2-43F7B8CDD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2E758-16E7-43BA-85C4-5105363B09D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A48F4-7AFA-9D46-1D67-8AEFD76E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7C4E1-3A15-374B-64B8-CE89D846C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D4432-998A-4494-BF53-84941E75E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41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jpeg">
            <a:extLst>
              <a:ext uri="{FF2B5EF4-FFF2-40B4-BE49-F238E27FC236}">
                <a16:creationId xmlns:a16="http://schemas.microsoft.com/office/drawing/2014/main" id="{E08F1CD0-5A6A-4B92-3693-AD26EC3D4D1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97241" cy="2150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BB14D2-4813-3D84-90BA-AA96EC49FB94}"/>
              </a:ext>
            </a:extLst>
          </p:cNvPr>
          <p:cNvSpPr txBox="1"/>
          <p:nvPr/>
        </p:nvSpPr>
        <p:spPr>
          <a:xfrm>
            <a:off x="2768278" y="3541854"/>
            <a:ext cx="7697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Global Disaster Response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819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8CEA0D-8EC4-C8CF-CF96-4E4DE5714AD7}"/>
              </a:ext>
            </a:extLst>
          </p:cNvPr>
          <p:cNvSpPr txBox="1"/>
          <p:nvPr/>
        </p:nvSpPr>
        <p:spPr>
          <a:xfrm>
            <a:off x="542020" y="520333"/>
            <a:ext cx="6564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Dataset Overview</a:t>
            </a:r>
            <a:endParaRPr lang="en-IN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E3445-5949-2532-F552-B27425E5894C}"/>
              </a:ext>
            </a:extLst>
          </p:cNvPr>
          <p:cNvSpPr txBox="1"/>
          <p:nvPr/>
        </p:nvSpPr>
        <p:spPr>
          <a:xfrm>
            <a:off x="360744" y="1558768"/>
            <a:ext cx="113798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• The dataset contains 50,000 rows </a:t>
            </a:r>
            <a:r>
              <a:rPr lang="en-US" sz="2800"/>
              <a:t>and 12 </a:t>
            </a:r>
            <a:r>
              <a:rPr lang="en-US" sz="2800" dirty="0"/>
              <a:t>columns representing global disaster events </a:t>
            </a:r>
            <a:endParaRPr lang="en-IN" sz="2800" dirty="0"/>
          </a:p>
          <a:p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93DEB-49FA-68E5-E946-A68D0FA9A20B}"/>
              </a:ext>
            </a:extLst>
          </p:cNvPr>
          <p:cNvSpPr txBox="1"/>
          <p:nvPr/>
        </p:nvSpPr>
        <p:spPr>
          <a:xfrm>
            <a:off x="360744" y="2529243"/>
            <a:ext cx="11470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• Columns Include :Date , Country , Disaster type , Severity index , </a:t>
            </a:r>
            <a:r>
              <a:rPr lang="en-US" sz="2800" dirty="0" err="1"/>
              <a:t>Casualities</a:t>
            </a:r>
            <a:r>
              <a:rPr lang="en-US" sz="2800" dirty="0"/>
              <a:t> , Economic loss </a:t>
            </a:r>
            <a:r>
              <a:rPr lang="en-US" sz="2800" dirty="0" err="1"/>
              <a:t>usd</a:t>
            </a:r>
            <a:r>
              <a:rPr lang="en-US" sz="2800" dirty="0"/>
              <a:t> , Response time hours, aid amount </a:t>
            </a:r>
            <a:r>
              <a:rPr lang="en-US" sz="2800" dirty="0" err="1"/>
              <a:t>usd</a:t>
            </a:r>
            <a:r>
              <a:rPr lang="en-US" sz="2800" dirty="0"/>
              <a:t> , response efficiency score , recovery days , latitude , longitude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7302F-2176-6D83-07FD-C7D771CB7CC9}"/>
              </a:ext>
            </a:extLst>
          </p:cNvPr>
          <p:cNvSpPr txBox="1"/>
          <p:nvPr/>
        </p:nvSpPr>
        <p:spPr>
          <a:xfrm>
            <a:off x="360744" y="3914238"/>
            <a:ext cx="8535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• Data Types are 3 Categorical and  9 Numerical Columns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230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2EFB1-C99B-69FE-5978-F2646BB6C8F0}"/>
              </a:ext>
            </a:extLst>
          </p:cNvPr>
          <p:cNvSpPr txBox="1"/>
          <p:nvPr/>
        </p:nvSpPr>
        <p:spPr>
          <a:xfrm>
            <a:off x="115570" y="273993"/>
            <a:ext cx="6875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Simple Description of each Column</a:t>
            </a:r>
            <a:endParaRPr lang="en-I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AFE28-0760-974C-21EC-0D912714A857}"/>
              </a:ext>
            </a:extLst>
          </p:cNvPr>
          <p:cNvSpPr txBox="1"/>
          <p:nvPr/>
        </p:nvSpPr>
        <p:spPr>
          <a:xfrm>
            <a:off x="115570" y="1169898"/>
            <a:ext cx="12228830" cy="541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Date</a:t>
            </a:r>
            <a:r>
              <a:rPr lang="en-US" sz="2400" dirty="0"/>
              <a:t>: The date on which the disaster event was recorded.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Country</a:t>
            </a:r>
            <a:r>
              <a:rPr lang="en-US" sz="2400" dirty="0"/>
              <a:t>: The country where the disaster occurred.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Disaster Type</a:t>
            </a:r>
            <a:r>
              <a:rPr lang="en-US" sz="2400" dirty="0"/>
              <a:t>: The category of disaster, such as earthquake, flood, or cyclone.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Severity Index</a:t>
            </a:r>
            <a:r>
              <a:rPr lang="en-US" sz="2400" dirty="0"/>
              <a:t>: A numerical score indicating the intensity or severity of the disaster.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Casualties</a:t>
            </a:r>
            <a:r>
              <a:rPr lang="en-US" sz="2400" dirty="0"/>
              <a:t>: The number of people injured or killed due to the disaster.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Economic Loss (USD)</a:t>
            </a:r>
            <a:r>
              <a:rPr lang="en-US" sz="2400" dirty="0"/>
              <a:t>: The estimated financial loss caused by the disaster in US dollars.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Response Time (Hours)</a:t>
            </a:r>
            <a:r>
              <a:rPr lang="en-US" sz="2400" dirty="0"/>
              <a:t>: The time taken by emergency services to respond after the disaster occurred.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Aid Amount (USD)</a:t>
            </a:r>
            <a:r>
              <a:rPr lang="en-US" sz="2400" dirty="0"/>
              <a:t>: The total financial aid provided for disaster relief in US dollars.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Response Efficiency Score</a:t>
            </a:r>
            <a:r>
              <a:rPr lang="en-US" sz="2400" dirty="0"/>
              <a:t>: A score representing how effective the disaster response efforts were.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Recovery Days</a:t>
            </a:r>
            <a:r>
              <a:rPr lang="en-US" sz="2400" dirty="0"/>
              <a:t>: The number of days required for recovery and restoration after the disaster.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Latitude</a:t>
            </a:r>
            <a:r>
              <a:rPr lang="en-US" sz="2400" dirty="0"/>
              <a:t>: The geographical latitude of the disaster 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Longitude</a:t>
            </a:r>
            <a:r>
              <a:rPr lang="en-US" sz="2400" dirty="0"/>
              <a:t>: The geographical longitude of the disaster location.</a:t>
            </a:r>
          </a:p>
        </p:txBody>
      </p:sp>
    </p:spTree>
    <p:extLst>
      <p:ext uri="{BB962C8B-B14F-4D97-AF65-F5344CB8AC3E}">
        <p14:creationId xmlns:p14="http://schemas.microsoft.com/office/powerpoint/2010/main" val="2162004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72883C-4FE9-5A01-92A3-1A5F0448169D}"/>
              </a:ext>
            </a:extLst>
          </p:cNvPr>
          <p:cNvSpPr txBox="1"/>
          <p:nvPr/>
        </p:nvSpPr>
        <p:spPr>
          <a:xfrm>
            <a:off x="162560" y="0"/>
            <a:ext cx="3304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Reading Dataset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AF14A-630C-6AE8-659E-10CAAC247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" y="747931"/>
            <a:ext cx="10271760" cy="6023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56244D-7D01-D062-7BF0-E38C37743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320" y="1320800"/>
            <a:ext cx="1448002" cy="511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2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51DBAB-45E9-7CC7-8C99-FD21D94F4002}"/>
              </a:ext>
            </a:extLst>
          </p:cNvPr>
          <p:cNvSpPr txBox="1"/>
          <p:nvPr/>
        </p:nvSpPr>
        <p:spPr>
          <a:xfrm>
            <a:off x="182880" y="0"/>
            <a:ext cx="2586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Basic Checks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9E280-925D-B5C7-2FA6-DE256F30B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" y="646331"/>
            <a:ext cx="5622545" cy="1659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751FA6-ECFA-2716-AAA0-5627AAB23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08" y="2374914"/>
            <a:ext cx="4353533" cy="4353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7D2B4E-D52E-8E48-ACFB-A8C0A15D32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563" y="620488"/>
            <a:ext cx="6447437" cy="22662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46CB8-F347-4F8B-BB5A-D7373DF46D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563" y="3408680"/>
            <a:ext cx="6173061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1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BB3EF-F603-EBF3-B6CC-73247E34862F}"/>
              </a:ext>
            </a:extLst>
          </p:cNvPr>
          <p:cNvSpPr txBox="1"/>
          <p:nvPr/>
        </p:nvSpPr>
        <p:spPr>
          <a:xfrm>
            <a:off x="698091" y="540773"/>
            <a:ext cx="10274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Preprocessing Techniques on Dataset Individual Columns 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18CA4D-D0D4-7317-DBE8-599797B1E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04" y="1400852"/>
            <a:ext cx="3200848" cy="3527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A2235B-0B28-86F0-B716-20BA1FFEC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05" y="5053510"/>
            <a:ext cx="3200847" cy="16671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12E747-B002-EADA-3525-45DE76E10AAE}"/>
              </a:ext>
            </a:extLst>
          </p:cNvPr>
          <p:cNvSpPr txBox="1"/>
          <p:nvPr/>
        </p:nvSpPr>
        <p:spPr>
          <a:xfrm>
            <a:off x="4847304" y="2320414"/>
            <a:ext cx="465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Here , you can see We have no Missing Values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A1E02-AAB4-4FBB-070C-C5767CEDE359}"/>
              </a:ext>
            </a:extLst>
          </p:cNvPr>
          <p:cNvSpPr txBox="1"/>
          <p:nvPr/>
        </p:nvSpPr>
        <p:spPr>
          <a:xfrm>
            <a:off x="4847304" y="2904863"/>
            <a:ext cx="2455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we have no Duplicates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28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7DCADD-4D8A-AD97-0C17-ACE06D6B17DB}"/>
              </a:ext>
            </a:extLst>
          </p:cNvPr>
          <p:cNvSpPr txBox="1"/>
          <p:nvPr/>
        </p:nvSpPr>
        <p:spPr>
          <a:xfrm>
            <a:off x="452211" y="295850"/>
            <a:ext cx="2297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Column : Date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70D89-6E64-2B9D-0814-B924CB5CA4C3}"/>
              </a:ext>
            </a:extLst>
          </p:cNvPr>
          <p:cNvSpPr txBox="1"/>
          <p:nvPr/>
        </p:nvSpPr>
        <p:spPr>
          <a:xfrm>
            <a:off x="452211" y="1004020"/>
            <a:ext cx="351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AFE4D-5F83-E14C-1F76-87315300D434}"/>
              </a:ext>
            </a:extLst>
          </p:cNvPr>
          <p:cNvSpPr txBox="1"/>
          <p:nvPr/>
        </p:nvSpPr>
        <p:spPr>
          <a:xfrm>
            <a:off x="405467" y="3691639"/>
            <a:ext cx="3559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BC58E4-0B72-DD94-4E8A-C6AFD5B96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81" y="1650635"/>
            <a:ext cx="3447982" cy="1859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2F4528-46EF-6DEB-9E27-28367A0B2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11" y="4467078"/>
            <a:ext cx="4902109" cy="12186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85C1B4-C584-BDFB-2283-64A1C28DC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860" y="1774031"/>
            <a:ext cx="3898790" cy="16671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EAED54-8E9A-EEA9-9BC6-FB5C295B0AB1}"/>
              </a:ext>
            </a:extLst>
          </p:cNvPr>
          <p:cNvSpPr txBox="1"/>
          <p:nvPr/>
        </p:nvSpPr>
        <p:spPr>
          <a:xfrm>
            <a:off x="6753860" y="262340"/>
            <a:ext cx="2784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Column : Country</a:t>
            </a: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ABC5D-F1D6-89B5-CF75-6A96A065C9B1}"/>
              </a:ext>
            </a:extLst>
          </p:cNvPr>
          <p:cNvSpPr txBox="1"/>
          <p:nvPr/>
        </p:nvSpPr>
        <p:spPr>
          <a:xfrm>
            <a:off x="6622981" y="10040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4C7AC-F559-9804-29C0-17629BBD22BC}"/>
              </a:ext>
            </a:extLst>
          </p:cNvPr>
          <p:cNvSpPr txBox="1"/>
          <p:nvPr/>
        </p:nvSpPr>
        <p:spPr>
          <a:xfrm>
            <a:off x="6753860" y="3691639"/>
            <a:ext cx="6619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2C64ED-8A27-4782-1E7D-978E3FF24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981" y="4371764"/>
            <a:ext cx="5347222" cy="131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96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84C3C-E47E-E079-EE44-DF0535BB20B3}"/>
              </a:ext>
            </a:extLst>
          </p:cNvPr>
          <p:cNvSpPr txBox="1"/>
          <p:nvPr/>
        </p:nvSpPr>
        <p:spPr>
          <a:xfrm>
            <a:off x="426720" y="306774"/>
            <a:ext cx="3548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Column : Disaster type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3A2C7-C5BC-6FAD-EF94-56F7A3B4ECFE}"/>
              </a:ext>
            </a:extLst>
          </p:cNvPr>
          <p:cNvSpPr txBox="1"/>
          <p:nvPr/>
        </p:nvSpPr>
        <p:spPr>
          <a:xfrm>
            <a:off x="346431" y="113854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17D74-4B58-9315-1D0F-4B9CB912F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31" y="1971252"/>
            <a:ext cx="4001058" cy="1648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F519D0-E96E-4FBC-A68F-D8AB7FD6A188}"/>
              </a:ext>
            </a:extLst>
          </p:cNvPr>
          <p:cNvSpPr txBox="1"/>
          <p:nvPr/>
        </p:nvSpPr>
        <p:spPr>
          <a:xfrm>
            <a:off x="346431" y="36193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370F96-27A6-E9C1-E9CE-65C82AC0C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31" y="4462157"/>
            <a:ext cx="5292605" cy="10097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AA3E6D-4D78-9477-4766-4C5C20C0CFD1}"/>
              </a:ext>
            </a:extLst>
          </p:cNvPr>
          <p:cNvSpPr txBox="1"/>
          <p:nvPr/>
        </p:nvSpPr>
        <p:spPr>
          <a:xfrm>
            <a:off x="6563360" y="256423"/>
            <a:ext cx="3671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Column : severity index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013B35-C2E9-CA78-48B6-00B600BF5425}"/>
              </a:ext>
            </a:extLst>
          </p:cNvPr>
          <p:cNvSpPr txBox="1"/>
          <p:nvPr/>
        </p:nvSpPr>
        <p:spPr>
          <a:xfrm>
            <a:off x="6654800" y="10399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6B7E4-D73A-0464-18C3-5FD85EC72F96}"/>
              </a:ext>
            </a:extLst>
          </p:cNvPr>
          <p:cNvSpPr txBox="1"/>
          <p:nvPr/>
        </p:nvSpPr>
        <p:spPr>
          <a:xfrm>
            <a:off x="6515100" y="3520697"/>
            <a:ext cx="6375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72B50F-8413-B4E1-4182-E5E4A4399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360" y="1761892"/>
            <a:ext cx="4105848" cy="16671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31C276-77E7-14EA-0850-2A99B41FD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520" y="4376419"/>
            <a:ext cx="5204778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75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25123E-239B-0F00-568C-479B7752F730}"/>
              </a:ext>
            </a:extLst>
          </p:cNvPr>
          <p:cNvSpPr txBox="1"/>
          <p:nvPr/>
        </p:nvSpPr>
        <p:spPr>
          <a:xfrm>
            <a:off x="213360" y="2674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Column : casualties 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E7C31-B37A-C7F0-6C89-24D9E04661E0}"/>
              </a:ext>
            </a:extLst>
          </p:cNvPr>
          <p:cNvSpPr txBox="1"/>
          <p:nvPr/>
        </p:nvSpPr>
        <p:spPr>
          <a:xfrm>
            <a:off x="213360" y="914400"/>
            <a:ext cx="351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831F53-EB31-74D6-49CB-4CFAA7034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" y="1620741"/>
            <a:ext cx="3067478" cy="13813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1028E2-8733-97A3-AB14-D7D2A1036C0F}"/>
              </a:ext>
            </a:extLst>
          </p:cNvPr>
          <p:cNvSpPr txBox="1"/>
          <p:nvPr/>
        </p:nvSpPr>
        <p:spPr>
          <a:xfrm>
            <a:off x="264160" y="32443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FA7AF6-34C8-6143-738C-A9B04024F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" y="3993267"/>
            <a:ext cx="4175760" cy="11907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0B8047-1427-3A35-9F91-7E6A7E834A3C}"/>
              </a:ext>
            </a:extLst>
          </p:cNvPr>
          <p:cNvSpPr txBox="1"/>
          <p:nvPr/>
        </p:nvSpPr>
        <p:spPr>
          <a:xfrm>
            <a:off x="5630861" y="2674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Column : economic loss </a:t>
            </a:r>
            <a:r>
              <a:rPr lang="en-US" sz="2800" b="1" dirty="0" err="1"/>
              <a:t>usd</a:t>
            </a:r>
            <a:endParaRPr lang="en-IN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9DF574-0396-72DC-EC57-767B54556051}"/>
              </a:ext>
            </a:extLst>
          </p:cNvPr>
          <p:cNvSpPr txBox="1"/>
          <p:nvPr/>
        </p:nvSpPr>
        <p:spPr>
          <a:xfrm>
            <a:off x="6004560" y="9144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A0E21CB-BDBF-FB19-FA4B-15EBB1C28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93" y="1578073"/>
            <a:ext cx="3572374" cy="134321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3C8B48C-E57F-C5D8-5209-3111158A0D0E}"/>
              </a:ext>
            </a:extLst>
          </p:cNvPr>
          <p:cNvSpPr txBox="1"/>
          <p:nvPr/>
        </p:nvSpPr>
        <p:spPr>
          <a:xfrm>
            <a:off x="5630861" y="33366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E5BD16D-EA08-19E3-B36A-5F9EECBB30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861" y="4029049"/>
            <a:ext cx="5572903" cy="102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9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5EA034-64EF-8FB0-95C2-C7C04D902BBF}"/>
              </a:ext>
            </a:extLst>
          </p:cNvPr>
          <p:cNvSpPr txBox="1"/>
          <p:nvPr/>
        </p:nvSpPr>
        <p:spPr>
          <a:xfrm>
            <a:off x="216310" y="35610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Column : response time hours 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9BA56-4881-F61D-6D45-627AEA538EC5}"/>
              </a:ext>
            </a:extLst>
          </p:cNvPr>
          <p:cNvSpPr txBox="1"/>
          <p:nvPr/>
        </p:nvSpPr>
        <p:spPr>
          <a:xfrm>
            <a:off x="335280" y="10396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E9468C-67FA-BFF6-3D04-9A5DBC4F4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10" y="1799164"/>
            <a:ext cx="4363059" cy="15527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65D4D8-2303-C207-9E3F-12A590EAFF35}"/>
              </a:ext>
            </a:extLst>
          </p:cNvPr>
          <p:cNvSpPr txBox="1"/>
          <p:nvPr/>
        </p:nvSpPr>
        <p:spPr>
          <a:xfrm>
            <a:off x="335280" y="348392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F98119-612D-AEC9-E8B7-9B2D1E82E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10" y="4365470"/>
            <a:ext cx="3715268" cy="7621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8BB617-D21C-B42D-3497-90DA654A3164}"/>
              </a:ext>
            </a:extLst>
          </p:cNvPr>
          <p:cNvSpPr txBox="1"/>
          <p:nvPr/>
        </p:nvSpPr>
        <p:spPr>
          <a:xfrm>
            <a:off x="6233651" y="35610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Column : </a:t>
            </a:r>
            <a:r>
              <a:rPr lang="en-IN" sz="2800" b="1" dirty="0"/>
              <a:t>aid amount </a:t>
            </a:r>
            <a:r>
              <a:rPr lang="en-IN" sz="2800" b="1" dirty="0" err="1"/>
              <a:t>usd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8C68A1-3DF5-9FE4-3128-46A00487C442}"/>
              </a:ext>
            </a:extLst>
          </p:cNvPr>
          <p:cNvSpPr txBox="1"/>
          <p:nvPr/>
        </p:nvSpPr>
        <p:spPr>
          <a:xfrm>
            <a:off x="6312310" y="1039614"/>
            <a:ext cx="6164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117FC-1B42-EFF0-9AF5-4EFE6A10B763}"/>
              </a:ext>
            </a:extLst>
          </p:cNvPr>
          <p:cNvSpPr txBox="1"/>
          <p:nvPr/>
        </p:nvSpPr>
        <p:spPr>
          <a:xfrm>
            <a:off x="6091085" y="3483922"/>
            <a:ext cx="6238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E05BE1-1C8A-79D6-9AC2-C12681A0E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280" y="1763836"/>
            <a:ext cx="3677163" cy="14575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0BAFFB-E81E-AD92-B5F1-9F2D5B8DB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866" y="4365470"/>
            <a:ext cx="5696745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5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CF8A1E-324A-606A-2DFC-CC6101D15B54}"/>
              </a:ext>
            </a:extLst>
          </p:cNvPr>
          <p:cNvSpPr txBox="1"/>
          <p:nvPr/>
        </p:nvSpPr>
        <p:spPr>
          <a:xfrm>
            <a:off x="157316" y="38494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Column : response efficiency score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80052-8E7B-1C65-CF1A-AB47AD0EE5D6}"/>
              </a:ext>
            </a:extLst>
          </p:cNvPr>
          <p:cNvSpPr txBox="1"/>
          <p:nvPr/>
        </p:nvSpPr>
        <p:spPr>
          <a:xfrm>
            <a:off x="422531" y="11144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05717-EC6B-7B29-ACC5-BF5BBDA2B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83" y="1954987"/>
            <a:ext cx="3658111" cy="1543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029417-6798-2F57-CFCE-1BFB7C424A73}"/>
              </a:ext>
            </a:extLst>
          </p:cNvPr>
          <p:cNvSpPr txBox="1"/>
          <p:nvPr/>
        </p:nvSpPr>
        <p:spPr>
          <a:xfrm>
            <a:off x="422531" y="37290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21C747-8D4D-CF64-DEF0-73A49755F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1" y="4622279"/>
            <a:ext cx="4315427" cy="752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093104-4CA9-47DE-FB59-2ACBD4218055}"/>
              </a:ext>
            </a:extLst>
          </p:cNvPr>
          <p:cNvSpPr txBox="1"/>
          <p:nvPr/>
        </p:nvSpPr>
        <p:spPr>
          <a:xfrm>
            <a:off x="7017774" y="4144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Column : recovery days</a:t>
            </a: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4FC87E-5003-5B12-E0B0-16CE21EB8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432" y="1959105"/>
            <a:ext cx="3620005" cy="15527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43BBF6-5515-A3B6-DFF6-DBEBA4D7507A}"/>
              </a:ext>
            </a:extLst>
          </p:cNvPr>
          <p:cNvSpPr txBox="1"/>
          <p:nvPr/>
        </p:nvSpPr>
        <p:spPr>
          <a:xfrm>
            <a:off x="7017774" y="1249465"/>
            <a:ext cx="6504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2E52EF-8306-A1C0-2499-35C881D5E05B}"/>
              </a:ext>
            </a:extLst>
          </p:cNvPr>
          <p:cNvSpPr txBox="1"/>
          <p:nvPr/>
        </p:nvSpPr>
        <p:spPr>
          <a:xfrm>
            <a:off x="7017774" y="3612367"/>
            <a:ext cx="6799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50B593-5F1F-E5CE-EF86-AAE87397D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432" y="4502554"/>
            <a:ext cx="4065119" cy="122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1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686900-EE7D-49E8-DAB1-87563763947D}"/>
              </a:ext>
            </a:extLst>
          </p:cNvPr>
          <p:cNvSpPr txBox="1"/>
          <p:nvPr/>
        </p:nvSpPr>
        <p:spPr>
          <a:xfrm>
            <a:off x="588171" y="354942"/>
            <a:ext cx="2762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Column : latitude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3D32-7BA7-59FB-28F8-DF340352CC6F}"/>
              </a:ext>
            </a:extLst>
          </p:cNvPr>
          <p:cNvSpPr txBox="1"/>
          <p:nvPr/>
        </p:nvSpPr>
        <p:spPr>
          <a:xfrm>
            <a:off x="7128386" y="352538"/>
            <a:ext cx="3017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Column : longitude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6E0C5-29E6-61DC-F689-34B1685FD2C8}"/>
              </a:ext>
            </a:extLst>
          </p:cNvPr>
          <p:cNvSpPr txBox="1"/>
          <p:nvPr/>
        </p:nvSpPr>
        <p:spPr>
          <a:xfrm>
            <a:off x="588171" y="10601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E25FD-70F9-3DC7-5228-4966D27C88DF}"/>
              </a:ext>
            </a:extLst>
          </p:cNvPr>
          <p:cNvSpPr txBox="1"/>
          <p:nvPr/>
        </p:nvSpPr>
        <p:spPr>
          <a:xfrm>
            <a:off x="7097559" y="109090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1.Handling Missing Values</a:t>
            </a:r>
            <a:endParaRPr lang="en-IN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7F989-81CA-62B9-3C44-7A5737DFE55B}"/>
              </a:ext>
            </a:extLst>
          </p:cNvPr>
          <p:cNvSpPr txBox="1"/>
          <p:nvPr/>
        </p:nvSpPr>
        <p:spPr>
          <a:xfrm>
            <a:off x="7097559" y="3944936"/>
            <a:ext cx="6740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3B0C7-F754-83D5-D5DC-007DB9808385}"/>
              </a:ext>
            </a:extLst>
          </p:cNvPr>
          <p:cNvSpPr txBox="1"/>
          <p:nvPr/>
        </p:nvSpPr>
        <p:spPr>
          <a:xfrm>
            <a:off x="588171" y="4011902"/>
            <a:ext cx="6740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Checking Inconsistences</a:t>
            </a:r>
            <a:endParaRPr lang="en-IN" sz="24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10F597-17AA-634A-1F3C-B8E568D1D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84" y="1885735"/>
            <a:ext cx="3258005" cy="1543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E60630-48B2-8D26-A806-5E63D88E7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9" y="4801300"/>
            <a:ext cx="4753638" cy="8097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D329DE-9823-DB43-CBA4-24CBB73B4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876" y="1940950"/>
            <a:ext cx="3334215" cy="14956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8536F6-185F-3477-C52D-B37AA81EB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8386" y="4801300"/>
            <a:ext cx="4255343" cy="66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21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5F70DE-D08A-EB19-2E56-2EFF11874DFC}"/>
              </a:ext>
            </a:extLst>
          </p:cNvPr>
          <p:cNvSpPr txBox="1"/>
          <p:nvPr/>
        </p:nvSpPr>
        <p:spPr>
          <a:xfrm>
            <a:off x="81935" y="0"/>
            <a:ext cx="7125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Data Analysis through Visualizations</a:t>
            </a:r>
            <a:endParaRPr lang="en-IN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A20F3-9759-8408-EF67-10F9B03F4642}"/>
              </a:ext>
            </a:extLst>
          </p:cNvPr>
          <p:cNvSpPr txBox="1"/>
          <p:nvPr/>
        </p:nvSpPr>
        <p:spPr>
          <a:xfrm>
            <a:off x="231714" y="646331"/>
            <a:ext cx="3033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Univariate Analysis</a:t>
            </a:r>
            <a:endParaRPr lang="en-IN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C099A-2495-1045-F2C4-0BE6080B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14" y="1217090"/>
            <a:ext cx="4920389" cy="3650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D094D2-D71C-AC4B-7285-792AB747B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32320"/>
            <a:ext cx="5122606" cy="3706809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2B33397-1E58-A65C-8AEB-80A6DD29A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88" y="5071918"/>
            <a:ext cx="558472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• The dataset shows an almost uniform distribution of disaster types, indicating balanced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• This balanced representation enables unbiased comparison across different disaster categories.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0900BD-B5E1-D2E6-4187-4B30801C9707}"/>
              </a:ext>
            </a:extLst>
          </p:cNvPr>
          <p:cNvSpPr txBox="1"/>
          <p:nvPr/>
        </p:nvSpPr>
        <p:spPr>
          <a:xfrm>
            <a:off x="5944255" y="5071918"/>
            <a:ext cx="65876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The severity index follows a near-normal distribution, with most disasters having moderate severity levels.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Extremely low and very high severity events are less frequent compared to mid-range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018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75B606-27B0-8B63-A6FE-14BCD487E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67" y="1421389"/>
            <a:ext cx="5509039" cy="4592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C31D62-57C2-101D-15C9-AB0563EADD61}"/>
              </a:ext>
            </a:extLst>
          </p:cNvPr>
          <p:cNvSpPr txBox="1"/>
          <p:nvPr/>
        </p:nvSpPr>
        <p:spPr>
          <a:xfrm>
            <a:off x="5993356" y="1191617"/>
            <a:ext cx="55988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The pie chart shows an almost equal percentage share for all disaster types, each contributing around 9–10% of total events.</a:t>
            </a:r>
          </a:p>
          <a:p>
            <a:endParaRPr lang="en-US" dirty="0"/>
          </a:p>
          <a:p>
            <a:r>
              <a:rPr lang="en-US" dirty="0"/>
              <a:t>• Landslides, Earthquakes, and Floods have slightly higher proportions compared to other disaster categories.</a:t>
            </a:r>
          </a:p>
          <a:p>
            <a:endParaRPr lang="en-US" dirty="0"/>
          </a:p>
          <a:p>
            <a:r>
              <a:rPr lang="en-US" dirty="0"/>
              <a:t>• Droughts and Tornadoes show marginally lower representation but remain comparable to other disaster types.</a:t>
            </a:r>
          </a:p>
          <a:p>
            <a:endParaRPr lang="en-US" dirty="0"/>
          </a:p>
          <a:p>
            <a:r>
              <a:rPr lang="en-US" dirty="0"/>
              <a:t>• The near-uniform distribution indicates a well-balanced dataset without over-representation of any single disaster type.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E06AB3-2B64-DABD-5D97-3FBF83C7009B}"/>
              </a:ext>
            </a:extLst>
          </p:cNvPr>
          <p:cNvSpPr txBox="1"/>
          <p:nvPr/>
        </p:nvSpPr>
        <p:spPr>
          <a:xfrm>
            <a:off x="432620" y="294968"/>
            <a:ext cx="4569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Distribution of Disaster Types</a:t>
            </a:r>
          </a:p>
        </p:txBody>
      </p:sp>
    </p:spTree>
    <p:extLst>
      <p:ext uri="{BB962C8B-B14F-4D97-AF65-F5344CB8AC3E}">
        <p14:creationId xmlns:p14="http://schemas.microsoft.com/office/powerpoint/2010/main" val="1126186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012679-C1A0-E286-E232-4B3CE9BFC9C6}"/>
              </a:ext>
            </a:extLst>
          </p:cNvPr>
          <p:cNvSpPr txBox="1"/>
          <p:nvPr/>
        </p:nvSpPr>
        <p:spPr>
          <a:xfrm>
            <a:off x="314960" y="168313"/>
            <a:ext cx="2809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Bivariate Analysis</a:t>
            </a:r>
            <a:endParaRPr lang="en-IN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343DD7-AD2D-AD17-F116-7038916FCCDA}"/>
              </a:ext>
            </a:extLst>
          </p:cNvPr>
          <p:cNvSpPr txBox="1"/>
          <p:nvPr/>
        </p:nvSpPr>
        <p:spPr>
          <a:xfrm>
            <a:off x="314960" y="69153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726"/>
              </a:spcAft>
              <a:buNone/>
            </a:pPr>
            <a:r>
              <a:rPr lang="pt-BR" sz="2400" b="1" i="0" dirty="0">
                <a:effectLst/>
                <a:latin typeface="system-ui"/>
              </a:rPr>
              <a:t>Categorical vs Numerical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0EC566-BCFC-998D-4959-992CDCAC2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759"/>
            <a:ext cx="5564731" cy="4456673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86280CA4-1423-F557-A6A0-261B5B0EB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606" y="1919184"/>
            <a:ext cx="58552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• The chart compares the average economic loss (USD) across different disaster types.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• All disaster types show high and relatively similar average losses, indicating significant financial impact across events.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• Volcanic Eruptions and Tornadoes exhibit slightly higher average economic losses compared to other disaster types.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88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C1D71A-8A44-CF1E-9D00-95E0E9DD4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212"/>
            <a:ext cx="5369589" cy="4798142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DA3ADE44-881E-43E1-9DF3-B2B51DC3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866" y="1297212"/>
            <a:ext cx="646498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chart illustrates the average number of casualties across different disaster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disaster categories show similar average casualty levels, indicating a consistent human impact across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Tornadoes and Storm Surges have slightly higher average casualties compared to other disaster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Extreme Heat and Earthquakes show marginally lower average casualties, though differences are minimal.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results suggest that most disaster types pose comparable risks to human life, reinforcing the need for uniform preparedness and response strategies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0EFFC-47B6-9E02-7585-E294DDA9EA5C}"/>
              </a:ext>
            </a:extLst>
          </p:cNvPr>
          <p:cNvSpPr txBox="1"/>
          <p:nvPr/>
        </p:nvSpPr>
        <p:spPr>
          <a:xfrm>
            <a:off x="314633" y="403123"/>
            <a:ext cx="3850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Categorical vs Numerical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27764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CE51B6-8C21-13E9-0595-F7F3E105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1" y="1575911"/>
            <a:ext cx="5447073" cy="38487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992C69-1BA7-D801-6C32-CAF30E5232D6}"/>
              </a:ext>
            </a:extLst>
          </p:cNvPr>
          <p:cNvSpPr txBox="1"/>
          <p:nvPr/>
        </p:nvSpPr>
        <p:spPr>
          <a:xfrm>
            <a:off x="521108" y="462117"/>
            <a:ext cx="3539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Multivariate Analysis</a:t>
            </a:r>
            <a:endParaRPr lang="en-IN" sz="28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CA8295-C937-0B6F-FB0A-C72D1CFF9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35897"/>
            <a:ext cx="595835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plot shows a positive relationship between severity index and economic loss across all disaster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disaster severity increases, the economic loss generally rises, regardless of the disaster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Higher severity events (severity index above ~7) are associated with significantly larger financial impacts.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Different disaster types follow a similar upward trend, indicating severity is a key driver of economic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wide spread of points at higher severity levels suggests variability in impact, influenced by disaster type, location, and response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904864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AD096-1202-F305-5909-B641B7BAD7DC}"/>
              </a:ext>
            </a:extLst>
          </p:cNvPr>
          <p:cNvSpPr txBox="1"/>
          <p:nvPr/>
        </p:nvSpPr>
        <p:spPr>
          <a:xfrm>
            <a:off x="294968" y="334296"/>
            <a:ext cx="373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Time Series Analysis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0059C4-BDFE-7989-8EC2-D44DEBBA7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82" y="1256045"/>
            <a:ext cx="5479606" cy="378372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D96821-8FE2-4698-75A2-1808C0CF2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1254121"/>
            <a:ext cx="609600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chart shows year-wise variation in the number of disaster events from 2018 to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Disaster occurrences fluctuate over time, indicating no single year with consistently low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slight increasing trend can be observed in the later years, suggesting rising disaster frequency.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Peaks in certain periods highlight years with higher disaster intensity, possibly influenced by climate and environmental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trend emphasizes the need for continuous preparedness and long-term disaster management planning.</a:t>
            </a:r>
          </a:p>
        </p:txBody>
      </p:sp>
    </p:spTree>
    <p:extLst>
      <p:ext uri="{BB962C8B-B14F-4D97-AF65-F5344CB8AC3E}">
        <p14:creationId xmlns:p14="http://schemas.microsoft.com/office/powerpoint/2010/main" val="2449172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D7677-0970-2F54-92E6-ACB51CCB4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7" y="1239501"/>
            <a:ext cx="5093110" cy="4378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3F3B6C-7583-329E-F5CC-C9A28B331011}"/>
              </a:ext>
            </a:extLst>
          </p:cNvPr>
          <p:cNvSpPr txBox="1"/>
          <p:nvPr/>
        </p:nvSpPr>
        <p:spPr>
          <a:xfrm>
            <a:off x="393290" y="363794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Correlation Heat map</a:t>
            </a:r>
            <a:endParaRPr lang="en-IN" sz="28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D324A9B-3006-5E8A-71C2-27CAF2F87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648" y="1518104"/>
            <a:ext cx="650755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Severity index shows a strong positive correlation with recovery days, indicating that more severe disasters take longer to recover.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Response time has a strong negative correlation with response efficiency score, meaning faster responses lead to higher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Casualties and economic loss are moderately positively correlated with disaster severity, showing increased impact with higher severity.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Aid amount has a positive relationship with severity and recovery days, suggesting higher aid allocation for severe disasters.</a:t>
            </a:r>
          </a:p>
        </p:txBody>
      </p:sp>
    </p:spTree>
    <p:extLst>
      <p:ext uri="{BB962C8B-B14F-4D97-AF65-F5344CB8AC3E}">
        <p14:creationId xmlns:p14="http://schemas.microsoft.com/office/powerpoint/2010/main" val="8495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E7441-B29D-CC4C-818B-F3CEBB36BA9D}"/>
              </a:ext>
            </a:extLst>
          </p:cNvPr>
          <p:cNvSpPr txBox="1"/>
          <p:nvPr/>
        </p:nvSpPr>
        <p:spPr>
          <a:xfrm>
            <a:off x="196645" y="56138"/>
            <a:ext cx="2074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Summary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6559A-C090-B966-6149-6E921D12EEB9}"/>
              </a:ext>
            </a:extLst>
          </p:cNvPr>
          <p:cNvSpPr txBox="1"/>
          <p:nvPr/>
        </p:nvSpPr>
        <p:spPr>
          <a:xfrm>
            <a:off x="196645" y="948690"/>
            <a:ext cx="1151357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• Analyzed global disaster response data from 2018 to 2024 covering multiple countries and disaster types.</a:t>
            </a:r>
          </a:p>
          <a:p>
            <a:pPr algn="just"/>
            <a:endParaRPr lang="en-US" sz="2000" dirty="0"/>
          </a:p>
          <a:p>
            <a:pPr algn="just"/>
            <a:r>
              <a:rPr lang="en-US" altLang="en-US" sz="2000" dirty="0">
                <a:latin typeface="Arial" panose="020B0604020202020204" pitchFamily="34" charset="0"/>
              </a:rPr>
              <a:t>• Performed data cleaning and preprocessing to handle inconsistencies and ensure data quality</a:t>
            </a:r>
          </a:p>
          <a:p>
            <a:pPr algn="just"/>
            <a:endParaRPr lang="en-US" altLang="en-US" sz="2000" dirty="0">
              <a:latin typeface="Arial" panose="020B0604020202020204" pitchFamily="34" charset="0"/>
            </a:endParaRPr>
          </a:p>
          <a:p>
            <a:pPr algn="just"/>
            <a:r>
              <a:rPr lang="en-US" sz="2000" dirty="0"/>
              <a:t>• Conducted univariate analysis to understand disaster frequency, severity levels, casualties, and economic losses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• Used bivariate analysis to examine relationships between disaster types and key numerical impacts such as severity, recovery time, and economic loss.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• </a:t>
            </a:r>
            <a:r>
              <a:rPr lang="en-US" altLang="en-US" sz="2000" dirty="0">
                <a:latin typeface="Arial" panose="020B0604020202020204" pitchFamily="34" charset="0"/>
              </a:rPr>
              <a:t>Implemented time-based analysis to identify yearly trends and seasonal patterns in disaster occurrences and impacts.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Conducted correlation analysis to measure relationships between numerical variables and identify strong associations.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Visualized insights using bar charts, scatter plots, heatmaps, and line graphs for better interpretation.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751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1133</Words>
  <Application>Microsoft Office PowerPoint</Application>
  <PresentationFormat>Widescreen</PresentationFormat>
  <Paragraphs>136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chattu sindhu sri</dc:creator>
  <cp:lastModifiedBy>chattu sindhu sri</cp:lastModifiedBy>
  <cp:revision>19</cp:revision>
  <dcterms:created xsi:type="dcterms:W3CDTF">2026-01-03T05:29:44Z</dcterms:created>
  <dcterms:modified xsi:type="dcterms:W3CDTF">2026-01-07T10:09:00Z</dcterms:modified>
</cp:coreProperties>
</file>